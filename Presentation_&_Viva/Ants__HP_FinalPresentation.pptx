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69" r:id="rId2"/>
    <p:sldId id="257" r:id="rId3"/>
    <p:sldId id="273" r:id="rId4"/>
    <p:sldId id="258" r:id="rId5"/>
    <p:sldId id="259" r:id="rId6"/>
    <p:sldId id="270" r:id="rId7"/>
    <p:sldId id="277" r:id="rId8"/>
    <p:sldId id="271" r:id="rId9"/>
    <p:sldId id="272" r:id="rId10"/>
    <p:sldId id="275" r:id="rId11"/>
    <p:sldId id="256" r:id="rId12"/>
    <p:sldId id="278" r:id="rId13"/>
    <p:sldId id="274" r:id="rId14"/>
    <p:sldId id="276" r:id="rId15"/>
    <p:sldId id="266" r:id="rId16"/>
  </p:sldIdLst>
  <p:sldSz cx="12192000" cy="6858000"/>
  <p:notesSz cx="6858000" cy="9144000"/>
  <p:embeddedFontLst>
    <p:embeddedFont>
      <p:font typeface="Inter"/>
      <p:bold r:id="rId18"/>
    </p:embeddedFont>
    <p:embeddedFont>
      <p:font typeface="Play" panose="020B0604020202020204" charset="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5563"/>
    <a:srgbClr val="5D6673"/>
    <a:srgbClr val="111111"/>
    <a:srgbClr val="3366FF"/>
    <a:srgbClr val="030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C0D94-104E-47C5-97CA-8C8852D214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94F061-C9EF-44B3-9C65-247951C5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50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“Good morning. We are Team Ants from the University of Moratuwa. Our project is ClearanceX, an explainable document reconciliation assistant for shipping teams.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Before a declaration is prepared, someone must decide whether several documents tell the same story. We help that person identify conflicting evidence, understand the difference, and make a recorded decision.”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**Delivery:** Look at the judges. Introduce the team once. Avoid reading all names and the university label from the slide.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Repository baseline: 83ef75c; review 30 September 2026.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User-supplied CodeSplash title slide.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4F061-C9EF-44B3-9C65-247951C5BE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09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C73B8-90AE-FA93-FEEB-F9C631E52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82667-EFE3-7491-B2D6-D6DAF66F4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0E981-C9BE-A058-E0A1-222BDA48E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438E4-2E02-DC4E-767D-06425E78C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4F061-C9EF-44B3-9C65-247951C5BE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24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84;p1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737" y="0"/>
            <a:ext cx="12253739" cy="6857999"/>
          </a:xfrm>
          <a:prstGeom prst="rect">
            <a:avLst/>
          </a:prstGeom>
          <a:ln>
            <a:noFill/>
          </a:ln>
        </p:spPr>
      </p:pic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DAECB926-83EF-438E-BE40-C3671D67976C}"/>
              </a:ext>
            </a:extLst>
          </p:cNvPr>
          <p:cNvSpPr>
            <a:spLocks noGrp="1"/>
          </p:cNvSpPr>
          <p:nvPr/>
        </p:nvSpPr>
        <p:spPr>
          <a:xfrm>
            <a:off x="508650" y="1572775"/>
            <a:ext cx="4912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121212"/>
                </a:solidFill>
                <a:latin typeface="Play"/>
                <a:ea typeface="Play"/>
                <a:cs typeface="Play"/>
              </a:rPr>
              <a:t>ClearanceX</a:t>
            </a:r>
            <a:endParaRPr/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7C1920B6-E43E-4F38-AAED-DAA33E103AE2}"/>
              </a:ext>
            </a:extLst>
          </p:cNvPr>
          <p:cNvSpPr>
            <a:spLocks noGrp="1"/>
          </p:cNvSpPr>
          <p:nvPr/>
        </p:nvSpPr>
        <p:spPr>
          <a:xfrm>
            <a:off x="612648" y="2350008"/>
            <a:ext cx="1051560" cy="50292"/>
          </a:xfrm>
          <a:prstGeom prst="rect">
            <a:avLst/>
          </a:prstGeom>
          <a:solidFill>
            <a:srgbClr val="F45B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1">
            <a:extLst>
              <a:ext uri="{FF2B5EF4-FFF2-40B4-BE49-F238E27FC236}">
                <a16:creationId xmlns:a16="http://schemas.microsoft.com/office/drawing/2014/main" id="{BBAE4362-0050-41FB-8C53-60347D80AFAF}"/>
              </a:ext>
            </a:extLst>
          </p:cNvPr>
          <p:cNvSpPr>
            <a:spLocks noGrp="1"/>
          </p:cNvSpPr>
          <p:nvPr/>
        </p:nvSpPr>
        <p:spPr>
          <a:xfrm>
            <a:off x="647700" y="3143250"/>
            <a:ext cx="29051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reconciliation</a:t>
            </a:r>
            <a:endParaRPr sz="1600"/>
          </a:p>
        </p:txBody>
      </p: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17432A03-2A2E-46C8-B6DF-2E1B3FF34B4E}"/>
              </a:ext>
            </a:extLst>
          </p:cNvPr>
          <p:cNvSpPr>
            <a:spLocks noGrp="1"/>
          </p:cNvSpPr>
          <p:nvPr/>
        </p:nvSpPr>
        <p:spPr>
          <a:xfrm>
            <a:off x="612648" y="2697480"/>
            <a:ext cx="2857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171B20"/>
                </a:solidFill>
                <a:latin typeface="Arial"/>
                <a:ea typeface="Arial"/>
                <a:cs typeface="Arial"/>
              </a:defRPr>
            </a:pPr>
            <a:r>
              <a:rPr sz="2250" b="1" i="0" u="none" cap="none">
                <a:solidFill>
                  <a:srgbClr val="171B20"/>
                </a:solidFill>
                <a:latin typeface="Arial"/>
                <a:ea typeface="Arial"/>
                <a:cs typeface="Arial"/>
              </a:rPr>
              <a:t>Project focus</a:t>
            </a:r>
            <a:endParaRPr sz="280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C80FA2F6-F159-49E4-A983-8D52B03E7800}"/>
              </a:ext>
            </a:extLst>
          </p:cNvPr>
          <p:cNvSpPr>
            <a:spLocks noGrp="1"/>
          </p:cNvSpPr>
          <p:nvPr/>
        </p:nvSpPr>
        <p:spPr>
          <a:xfrm>
            <a:off x="612650" y="3614100"/>
            <a:ext cx="3261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121212"/>
                </a:solidFill>
              </a:rPr>
              <a:t>University </a:t>
            </a:r>
            <a:r>
              <a:rPr sz="2800" b="1" i="0" u="none" cap="none">
                <a:solidFill>
                  <a:srgbClr val="121212"/>
                </a:solidFill>
                <a:latin typeface="Arial"/>
                <a:ea typeface="Arial"/>
                <a:cs typeface="Arial"/>
              </a:rPr>
              <a:t>Name</a:t>
            </a:r>
            <a:endParaRPr sz="280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6A64D4F0-B180-4E9D-8814-B2861DD39D0C}"/>
              </a:ext>
            </a:extLst>
          </p:cNvPr>
          <p:cNvSpPr>
            <a:spLocks noGrp="1"/>
          </p:cNvSpPr>
          <p:nvPr/>
        </p:nvSpPr>
        <p:spPr>
          <a:xfrm>
            <a:off x="612650" y="4013775"/>
            <a:ext cx="260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21212"/>
                </a:solidFill>
                <a:latin typeface="Arial"/>
                <a:ea typeface="Arial"/>
                <a:cs typeface="Arial"/>
              </a:rPr>
              <a:t>University Of Moratuwa</a:t>
            </a:r>
            <a:endParaRPr b="1"/>
          </a:p>
        </p:txBody>
      </p: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325748B1-824E-409F-9769-FCF283AF001F}"/>
              </a:ext>
            </a:extLst>
          </p:cNvPr>
          <p:cNvSpPr>
            <a:spLocks noGrp="1"/>
          </p:cNvSpPr>
          <p:nvPr/>
        </p:nvSpPr>
        <p:spPr>
          <a:xfrm>
            <a:off x="3789017" y="3105200"/>
            <a:ext cx="29667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dirty="0"/>
              <a:t>A</a:t>
            </a:r>
            <a:r>
              <a:rPr lang="en-US" b="1" dirty="0"/>
              <a:t>nts</a:t>
            </a:r>
            <a:endParaRPr b="1" dirty="0"/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80FDB77D-ABCF-4278-BE4C-0574D1EFA7B7}"/>
              </a:ext>
            </a:extLst>
          </p:cNvPr>
          <p:cNvSpPr>
            <a:spLocks noGrp="1"/>
          </p:cNvSpPr>
          <p:nvPr/>
        </p:nvSpPr>
        <p:spPr>
          <a:xfrm>
            <a:off x="3762765" y="4013775"/>
            <a:ext cx="3764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21212"/>
                </a:solidFill>
              </a:rPr>
              <a:t>Nadija Welihena Gamage</a:t>
            </a: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21212"/>
                </a:solidFill>
              </a:rPr>
              <a:t>Kaveen Hirumal</a:t>
            </a: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21212"/>
                </a:solidFill>
              </a:rPr>
              <a:t>Aloka Fernando</a:t>
            </a:r>
            <a:endParaRPr b="1"/>
          </a:p>
        </p:txBody>
      </p:sp>
      <p:sp>
        <p:nvSpPr>
          <p:cNvPr id="93" name="Google Shape;93;p1">
            <a:extLst>
              <a:ext uri="{FF2B5EF4-FFF2-40B4-BE49-F238E27FC236}">
                <a16:creationId xmlns:a16="http://schemas.microsoft.com/office/drawing/2014/main" id="{26647278-3CB8-4860-9336-C1C2A4F0884F}"/>
              </a:ext>
            </a:extLst>
          </p:cNvPr>
          <p:cNvSpPr>
            <a:spLocks noGrp="1"/>
          </p:cNvSpPr>
          <p:nvPr/>
        </p:nvSpPr>
        <p:spPr>
          <a:xfrm>
            <a:off x="3762765" y="2700675"/>
            <a:ext cx="334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rgbClr val="121212"/>
                </a:solidFill>
                <a:latin typeface="Arial"/>
                <a:ea typeface="Arial"/>
                <a:cs typeface="Arial"/>
              </a:rPr>
              <a:t>Team Name</a:t>
            </a:r>
            <a:endParaRPr sz="2800" b="1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1">
            <a:extLst>
              <a:ext uri="{FF2B5EF4-FFF2-40B4-BE49-F238E27FC236}">
                <a16:creationId xmlns:a16="http://schemas.microsoft.com/office/drawing/2014/main" id="{AD25B4DA-F504-4B45-BDA9-E2AAD89C18B8}"/>
              </a:ext>
            </a:extLst>
          </p:cNvPr>
          <p:cNvSpPr>
            <a:spLocks noGrp="1"/>
          </p:cNvSpPr>
          <p:nvPr/>
        </p:nvSpPr>
        <p:spPr>
          <a:xfrm>
            <a:off x="3762765" y="3619325"/>
            <a:ext cx="4137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rgbClr val="121212"/>
                </a:solidFill>
                <a:latin typeface="Arial"/>
                <a:ea typeface="Arial"/>
                <a:cs typeface="Arial"/>
              </a:rPr>
              <a:t>Members Details</a:t>
            </a:r>
            <a:endParaRPr sz="2800" b="1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599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6275" y="3098670"/>
            <a:ext cx="3352800" cy="1781175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3124200"/>
            <a:ext cx="3352800" cy="1781175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24200"/>
            <a:ext cx="3352800" cy="1781175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6276" y="3097531"/>
            <a:ext cx="3352799" cy="4571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19600" y="3124200"/>
            <a:ext cx="3352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124200"/>
            <a:ext cx="3352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90042" y="1785477"/>
            <a:ext cx="1611916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000" b="1" i="0" u="none" dirty="0">
                <a:solidFill>
                  <a:srgbClr val="C00000"/>
                </a:solidFill>
                <a:latin typeface="Inter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" y="3543300"/>
            <a:ext cx="36004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0F172A"/>
                </a:solidFill>
                <a:latin typeface="Inter"/>
              </a:rPr>
              <a:t>01. Why?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488" y="4152899"/>
            <a:ext cx="291976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64748B"/>
                </a:solidFill>
                <a:latin typeface="Inter"/>
              </a:rPr>
              <a:t>The structural bottleneck and financial toll.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5775" y="3543300"/>
            <a:ext cx="36004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02. What?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728" y="4152899"/>
            <a:ext cx="296944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64748B"/>
                </a:solidFill>
                <a:latin typeface="Inter"/>
              </a:rPr>
              <a:t>Our explainable AI reconciliation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3375" y="3543300"/>
            <a:ext cx="36004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03. How?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52899"/>
            <a:ext cx="301557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64748B"/>
                </a:solidFill>
                <a:latin typeface="Inter"/>
              </a:rPr>
              <a:t>System architecture and pipeline deep dive.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C85DE-767A-828D-5A83-7544358F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A96F046-2A24-9214-A643-814160038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20" y="1705451"/>
            <a:ext cx="5869757" cy="39150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5E1580-A93C-3F23-8FFA-6F48ED6E9874}"/>
              </a:ext>
            </a:extLst>
          </p:cNvPr>
          <p:cNvSpPr txBox="1"/>
          <p:nvPr/>
        </p:nvSpPr>
        <p:spPr>
          <a:xfrm>
            <a:off x="7117238" y="1705451"/>
            <a:ext cx="427034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Sri Lanka’s apparel sector drives over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Inter"/>
              </a:rPr>
              <a:t>$5 Billion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in annual export revenue, standing as the backbone of the national economy.</a:t>
            </a:r>
          </a:p>
          <a:p>
            <a:endParaRPr lang="en-US" sz="2000" dirty="0">
              <a:solidFill>
                <a:schemeClr val="bg1">
                  <a:lumMod val="85000"/>
                </a:schemeClr>
              </a:solidFill>
              <a:latin typeface="Inter"/>
            </a:endParaRPr>
          </a:p>
          <a:p>
            <a:endParaRPr lang="en-US" sz="2000" dirty="0">
              <a:solidFill>
                <a:schemeClr val="bg1">
                  <a:lumMod val="85000"/>
                </a:schemeClr>
              </a:solidFill>
              <a:latin typeface="Inter"/>
            </a:endParaRPr>
          </a:p>
          <a:p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Yet, moving these high value exports across borders is currently bottlenecked by a manual system, which is highly inefficient and unreliable.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6864D0-D41A-F986-03C7-A80EF00361F0}"/>
              </a:ext>
            </a:extLst>
          </p:cNvPr>
          <p:cNvSpPr txBox="1"/>
          <p:nvPr/>
        </p:nvSpPr>
        <p:spPr>
          <a:xfrm>
            <a:off x="804420" y="104637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dirty="0">
                <a:solidFill>
                  <a:srgbClr val="FF6600"/>
                </a:solidFill>
                <a:latin typeface="Inter"/>
              </a:rPr>
              <a:t>01. WHY: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94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246090"/>
            <a:ext cx="2124075" cy="2286000"/>
          </a:xfrm>
          <a:prstGeom prst="roundRect">
            <a:avLst>
              <a:gd name="adj" fmla="val 358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09975" y="3246090"/>
            <a:ext cx="2124075" cy="2286000"/>
          </a:xfrm>
          <a:prstGeom prst="roundRect">
            <a:avLst>
              <a:gd name="adj" fmla="val 358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57950" y="3246090"/>
            <a:ext cx="2124075" cy="2286000"/>
          </a:xfrm>
          <a:prstGeom prst="roundRect">
            <a:avLst>
              <a:gd name="adj" fmla="val 358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05925" y="3246090"/>
            <a:ext cx="2124075" cy="2286000"/>
          </a:xfrm>
          <a:prstGeom prst="roundRect">
            <a:avLst>
              <a:gd name="adj" fmla="val 358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522565"/>
            <a:ext cx="212407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3246090"/>
            <a:ext cx="2124075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3246090"/>
            <a:ext cx="9525" cy="2286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76550" y="3246090"/>
            <a:ext cx="9525" cy="2286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9975" y="5522565"/>
            <a:ext cx="212407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9975" y="3246090"/>
            <a:ext cx="2124075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9975" y="3246090"/>
            <a:ext cx="9525" cy="2286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24525" y="3246090"/>
            <a:ext cx="9525" cy="2286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57950" y="5522565"/>
            <a:ext cx="212407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57950" y="3246090"/>
            <a:ext cx="2124075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57950" y="3246090"/>
            <a:ext cx="9525" cy="2286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72500" y="3246090"/>
            <a:ext cx="9525" cy="2286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05925" y="5522565"/>
            <a:ext cx="212407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05925" y="3246090"/>
            <a:ext cx="2124075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05925" y="3246090"/>
            <a:ext cx="9525" cy="2286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420475" y="3246090"/>
            <a:ext cx="9525" cy="2286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793777"/>
            <a:ext cx="1495425" cy="381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4231927"/>
            <a:ext cx="266700" cy="30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0" y="3793777"/>
            <a:ext cx="1495425" cy="381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4231927"/>
            <a:ext cx="2667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275" y="3679477"/>
            <a:ext cx="1495425" cy="381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25" y="4231927"/>
            <a:ext cx="2667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0" y="3793777"/>
            <a:ext cx="1495425" cy="381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2000" y="1325909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6600"/>
                </a:solidFill>
                <a:latin typeface="Inter"/>
              </a:rPr>
              <a:t>01. WHY: THE CURRENT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1706909"/>
            <a:ext cx="11430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Inter"/>
              </a:rPr>
              <a:t>Manual Document Reconciliation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2407890"/>
            <a:ext cx="952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A3A3A3"/>
                </a:solidFill>
                <a:latin typeface="Inter"/>
              </a:rPr>
              <a:t>Sri Lanka's 300+ BOI exporters rely on human eyes to match unstandardized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664" y="4327177"/>
            <a:ext cx="19627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FFFFFF"/>
                </a:solidFill>
                <a:latin typeface="Inter"/>
              </a:rPr>
              <a:t>5-8 Documents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396" y="4631977"/>
            <a:ext cx="186928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A3A3A3"/>
                </a:solidFill>
                <a:latin typeface="Inter"/>
              </a:rPr>
              <a:t>Invoices, </a:t>
            </a:r>
            <a:r>
              <a:rPr sz="1200" b="0" i="0" u="none" dirty="0" err="1">
                <a:solidFill>
                  <a:srgbClr val="A3A3A3"/>
                </a:solidFill>
                <a:latin typeface="Inter"/>
              </a:rPr>
              <a:t>BoL</a:t>
            </a:r>
            <a:r>
              <a:rPr sz="1200" b="0" i="0" u="none" dirty="0">
                <a:solidFill>
                  <a:srgbClr val="A3A3A3"/>
                </a:solidFill>
                <a:latin typeface="Inter"/>
              </a:rPr>
              <a:t>, LC, Packing Lists</a:t>
            </a:r>
            <a:r>
              <a:rPr lang="en-US" sz="1200" b="0" i="0" u="none" dirty="0">
                <a:solidFill>
                  <a:srgbClr val="A3A3A3"/>
                </a:solidFill>
                <a:latin typeface="Inter"/>
              </a:rPr>
              <a:t>, AWB </a:t>
            </a:r>
            <a:endParaRPr sz="1200" b="0" i="0" u="none" dirty="0">
              <a:solidFill>
                <a:srgbClr val="A3A3A3"/>
              </a:solidFill>
              <a:latin typeface="Inte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690639" y="4327177"/>
            <a:ext cx="19627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Visual Hunting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7371" y="4631977"/>
            <a:ext cx="1869281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A3A3A3"/>
                </a:solidFill>
                <a:latin typeface="Inter"/>
              </a:rPr>
              <a:t>Manual line-item extraction.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8614" y="4212877"/>
            <a:ext cx="19627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Cross-Verification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5346" y="4746277"/>
            <a:ext cx="1869281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A3A3A3"/>
                </a:solidFill>
                <a:latin typeface="Inter"/>
              </a:rPr>
              <a:t>Identify mismatches (e.g., weight).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86589" y="4327177"/>
            <a:ext cx="19627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ASYCUDA Entry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3321" y="4631977"/>
            <a:ext cx="1869281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A3A3A3"/>
                </a:solidFill>
                <a:latin typeface="Inter"/>
              </a:rPr>
              <a:t>Manual typing into CUSDEC.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76512"/>
            <a:ext cx="3352800" cy="3409950"/>
          </a:xfrm>
          <a:prstGeom prst="roundRect">
            <a:avLst>
              <a:gd name="adj" fmla="val 3409"/>
            </a:avLst>
          </a:prstGeom>
          <a:solidFill>
            <a:srgbClr val="1E1E1E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576512"/>
            <a:ext cx="3352800" cy="3409950"/>
          </a:xfrm>
          <a:prstGeom prst="roundRect">
            <a:avLst>
              <a:gd name="adj" fmla="val 3409"/>
            </a:avLst>
          </a:prstGeom>
          <a:solidFill>
            <a:srgbClr val="1E1E1E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76512"/>
            <a:ext cx="3352800" cy="3409950"/>
          </a:xfrm>
          <a:prstGeom prst="roundRect">
            <a:avLst>
              <a:gd name="adj" fmla="val 3409"/>
            </a:avLst>
          </a:prstGeom>
          <a:solidFill>
            <a:srgbClr val="1E1E1E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1525" y="2586037"/>
            <a:ext cx="3333750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29125" y="2586037"/>
            <a:ext cx="3333750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86725" y="2586037"/>
            <a:ext cx="3333750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285750" y="871537"/>
            <a:ext cx="12763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6600"/>
                </a:solidFill>
                <a:latin typeface="Inter"/>
              </a:rPr>
              <a:t>01. WHY: THE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85750" y="1252537"/>
            <a:ext cx="127635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Inter"/>
              </a:rPr>
              <a:t>The Cost of Manual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4261" y="3043237"/>
            <a:ext cx="1428276" cy="7802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1" dirty="0">
                <a:solidFill>
                  <a:srgbClr val="FFFFFF"/>
                </a:solidFill>
                <a:latin typeface="Inter"/>
              </a:rPr>
              <a:t>1-2</a:t>
            </a:r>
            <a:r>
              <a:rPr sz="6000" b="1" i="0" u="none" dirty="0">
                <a:solidFill>
                  <a:srgbClr val="FFFFFF"/>
                </a:solidFill>
                <a:latin typeface="Inter"/>
              </a:rPr>
              <a:t>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806" y="4033837"/>
            <a:ext cx="3405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6600"/>
                </a:solidFill>
                <a:latin typeface="Inter"/>
              </a:rPr>
              <a:t>Lost Per Shipment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806" y="4357687"/>
            <a:ext cx="34051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A3A3A3"/>
                </a:solidFill>
                <a:latin typeface="Inter"/>
              </a:rPr>
              <a:t>Manual extraction &amp; cross-referencing.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3406" y="3043237"/>
            <a:ext cx="3405187" cy="780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 dirty="0">
                <a:solidFill>
                  <a:srgbClr val="FFFFFF"/>
                </a:solidFill>
                <a:latin typeface="Inter"/>
              </a:rPr>
              <a:t>1</a:t>
            </a:r>
            <a:r>
              <a:rPr lang="en-US" sz="6000" b="1" i="0" u="none" dirty="0">
                <a:solidFill>
                  <a:srgbClr val="FFFFFF"/>
                </a:solidFill>
                <a:latin typeface="Inter"/>
              </a:rPr>
              <a:t>0</a:t>
            </a:r>
            <a:r>
              <a:rPr sz="6000" b="1" i="0" u="none" dirty="0">
                <a:solidFill>
                  <a:srgbClr val="FFFFFF"/>
                </a:solidFill>
                <a:latin typeface="Inter"/>
              </a:rPr>
              <a:t>-2</a:t>
            </a:r>
            <a:r>
              <a:rPr lang="en-US" sz="6000" b="1" i="0" u="none" dirty="0">
                <a:solidFill>
                  <a:srgbClr val="FFFFFF"/>
                </a:solidFill>
                <a:latin typeface="Inter"/>
              </a:rPr>
              <a:t>0</a:t>
            </a:r>
            <a:r>
              <a:rPr sz="6000" b="1" i="0" u="none" dirty="0">
                <a:solidFill>
                  <a:srgbClr val="FFFFFF"/>
                </a:solidFill>
                <a:latin typeface="Inter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3405" y="4026098"/>
            <a:ext cx="3405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FF6600"/>
                </a:solidFill>
                <a:latin typeface="Inter"/>
              </a:rPr>
              <a:t>Initial Rejection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7688" y="4367212"/>
            <a:ext cx="34051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A3A3A3"/>
                </a:solidFill>
                <a:latin typeface="Inter"/>
              </a:rPr>
              <a:t>Minor discrepancies fail CUSDEC.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1006" y="3043237"/>
            <a:ext cx="3405187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FFFFF"/>
                </a:solidFill>
                <a:latin typeface="Inter"/>
              </a:rPr>
              <a:t>$500K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1006" y="4026098"/>
            <a:ext cx="3405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6600"/>
                </a:solidFill>
                <a:latin typeface="Inter"/>
              </a:rPr>
              <a:t>Capital Frozen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1006" y="4349948"/>
            <a:ext cx="34051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A3A3A3"/>
                </a:solidFill>
                <a:latin typeface="Inter"/>
              </a:rPr>
              <a:t>Demurrage &amp; delayed Letters of Credit.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75" y="593829"/>
            <a:ext cx="4244502" cy="54572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3663" y="942321"/>
            <a:ext cx="6667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6600"/>
                </a:solidFill>
                <a:latin typeface="Inter"/>
              </a:rPr>
              <a:t>02.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1144" y="1185241"/>
            <a:ext cx="7000875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 dirty="0" err="1">
                <a:solidFill>
                  <a:srgbClr val="FFFFFF"/>
                </a:solidFill>
                <a:latin typeface="Inter"/>
              </a:rPr>
              <a:t>ClearanceX</a:t>
            </a:r>
            <a:endParaRPr sz="54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3663" y="2192890"/>
            <a:ext cx="7129212" cy="183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The Explainable AI solution to automate the manual system, implementing text extraction and content recognition. cross-referencing, and audit systems.</a:t>
            </a:r>
          </a:p>
          <a:p>
            <a:pPr>
              <a:lnSpc>
                <a:spcPts val="2940"/>
              </a:lnSpc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A seamless system to turn messy, formless documents into a </a:t>
            </a:r>
          </a:p>
          <a:p>
            <a:pPr>
              <a:lnSpc>
                <a:spcPts val="2940"/>
              </a:lnSpc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CUSDEC</a:t>
            </a:r>
            <a:endParaRPr sz="2000" b="0" i="0" u="none" dirty="0">
              <a:solidFill>
                <a:schemeClr val="bg1">
                  <a:lumMod val="75000"/>
                </a:schemeClr>
              </a:solidFill>
              <a:latin typeface="Int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7E5DD2-3FBF-9B35-7D00-474A32A0F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903" y="4184029"/>
            <a:ext cx="4498097" cy="2140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1A24E-1A22-7C4D-BAB3-FEA91DCEA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84AB552A-68F4-A378-6769-69AF1BE028E5}"/>
              </a:ext>
            </a:extLst>
          </p:cNvPr>
          <p:cNvSpPr/>
          <p:nvPr/>
        </p:nvSpPr>
        <p:spPr>
          <a:xfrm>
            <a:off x="485775" y="4571107"/>
            <a:ext cx="10668000" cy="1752600"/>
          </a:xfrm>
          <a:prstGeom prst="roundRect">
            <a:avLst>
              <a:gd name="adj" fmla="val 6521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1362B345-31ED-3D91-3434-14806095B7D2}"/>
              </a:ext>
            </a:extLst>
          </p:cNvPr>
          <p:cNvSpPr/>
          <p:nvPr/>
        </p:nvSpPr>
        <p:spPr>
          <a:xfrm>
            <a:off x="485775" y="1418332"/>
            <a:ext cx="2495550" cy="2771775"/>
          </a:xfrm>
          <a:prstGeom prst="roundRect">
            <a:avLst>
              <a:gd name="adj" fmla="val 458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A46FFEE0-D770-E962-9F6C-117B9A35F565}"/>
              </a:ext>
            </a:extLst>
          </p:cNvPr>
          <p:cNvSpPr/>
          <p:nvPr/>
        </p:nvSpPr>
        <p:spPr>
          <a:xfrm>
            <a:off x="3209925" y="1418332"/>
            <a:ext cx="2495550" cy="2771775"/>
          </a:xfrm>
          <a:prstGeom prst="roundRect">
            <a:avLst>
              <a:gd name="adj" fmla="val 458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3D443FCC-E176-D35E-AEAC-C00A3C92B0EF}"/>
              </a:ext>
            </a:extLst>
          </p:cNvPr>
          <p:cNvSpPr/>
          <p:nvPr/>
        </p:nvSpPr>
        <p:spPr>
          <a:xfrm>
            <a:off x="5934075" y="1418332"/>
            <a:ext cx="2495550" cy="2771775"/>
          </a:xfrm>
          <a:prstGeom prst="roundRect">
            <a:avLst>
              <a:gd name="adj" fmla="val 458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A3AB462F-9D72-0990-7ADB-991A7CD74DBB}"/>
              </a:ext>
            </a:extLst>
          </p:cNvPr>
          <p:cNvSpPr/>
          <p:nvPr/>
        </p:nvSpPr>
        <p:spPr>
          <a:xfrm>
            <a:off x="8658225" y="1418332"/>
            <a:ext cx="2495550" cy="2771775"/>
          </a:xfrm>
          <a:prstGeom prst="roundRect">
            <a:avLst>
              <a:gd name="adj" fmla="val 458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2CD4D6-7F20-4723-3DBC-AD7D4B3EEE3F}"/>
              </a:ext>
            </a:extLst>
          </p:cNvPr>
          <p:cNvSpPr/>
          <p:nvPr/>
        </p:nvSpPr>
        <p:spPr>
          <a:xfrm>
            <a:off x="485775" y="6314182"/>
            <a:ext cx="106680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A759C5-9E93-5359-A97E-9DE2B099C0F4}"/>
              </a:ext>
            </a:extLst>
          </p:cNvPr>
          <p:cNvSpPr/>
          <p:nvPr/>
        </p:nvSpPr>
        <p:spPr>
          <a:xfrm>
            <a:off x="485775" y="4571107"/>
            <a:ext cx="106680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AB3F80-D74B-95A5-ABE5-7B4315C75B4F}"/>
              </a:ext>
            </a:extLst>
          </p:cNvPr>
          <p:cNvSpPr/>
          <p:nvPr/>
        </p:nvSpPr>
        <p:spPr>
          <a:xfrm>
            <a:off x="485775" y="4571107"/>
            <a:ext cx="76200" cy="17526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899280-87E6-E7BA-C45C-E07B15BD9D1C}"/>
              </a:ext>
            </a:extLst>
          </p:cNvPr>
          <p:cNvSpPr/>
          <p:nvPr/>
        </p:nvSpPr>
        <p:spPr>
          <a:xfrm>
            <a:off x="11144250" y="4571107"/>
            <a:ext cx="9525" cy="17526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10">
            <a:extLst>
              <a:ext uri="{FF2B5EF4-FFF2-40B4-BE49-F238E27FC236}">
                <a16:creationId xmlns:a16="http://schemas.microsoft.com/office/drawing/2014/main" id="{C88B0B02-0ACA-F781-80DA-BBD9523D2351}"/>
              </a:ext>
            </a:extLst>
          </p:cNvPr>
          <p:cNvSpPr/>
          <p:nvPr/>
        </p:nvSpPr>
        <p:spPr>
          <a:xfrm>
            <a:off x="800100" y="1761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24E451-0EEA-2EE2-3FAE-8CE81CDDF544}"/>
              </a:ext>
            </a:extLst>
          </p:cNvPr>
          <p:cNvSpPr/>
          <p:nvPr/>
        </p:nvSpPr>
        <p:spPr>
          <a:xfrm>
            <a:off x="485775" y="4180582"/>
            <a:ext cx="24955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CD9A70-32B2-A658-2359-D4537542F4D6}"/>
              </a:ext>
            </a:extLst>
          </p:cNvPr>
          <p:cNvSpPr/>
          <p:nvPr/>
        </p:nvSpPr>
        <p:spPr>
          <a:xfrm>
            <a:off x="485775" y="1418332"/>
            <a:ext cx="2495550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5CB063-A25F-CD2A-9026-865503111D6B}"/>
              </a:ext>
            </a:extLst>
          </p:cNvPr>
          <p:cNvSpPr/>
          <p:nvPr/>
        </p:nvSpPr>
        <p:spPr>
          <a:xfrm>
            <a:off x="485775" y="14183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E49801-2D61-E8B2-CC98-0F1290C2C73A}"/>
              </a:ext>
            </a:extLst>
          </p:cNvPr>
          <p:cNvSpPr/>
          <p:nvPr/>
        </p:nvSpPr>
        <p:spPr>
          <a:xfrm>
            <a:off x="2971800" y="14183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15">
            <a:extLst>
              <a:ext uri="{FF2B5EF4-FFF2-40B4-BE49-F238E27FC236}">
                <a16:creationId xmlns:a16="http://schemas.microsoft.com/office/drawing/2014/main" id="{C8B1EC11-7BB2-6713-B044-51CB8ED6D6F4}"/>
              </a:ext>
            </a:extLst>
          </p:cNvPr>
          <p:cNvSpPr/>
          <p:nvPr/>
        </p:nvSpPr>
        <p:spPr>
          <a:xfrm>
            <a:off x="3524250" y="1761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F83C7BF-0685-D1FF-F18D-04F99D969131}"/>
              </a:ext>
            </a:extLst>
          </p:cNvPr>
          <p:cNvSpPr/>
          <p:nvPr/>
        </p:nvSpPr>
        <p:spPr>
          <a:xfrm>
            <a:off x="3209925" y="4180582"/>
            <a:ext cx="24955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F79CE3-2F97-80A2-0EF2-F461958670C5}"/>
              </a:ext>
            </a:extLst>
          </p:cNvPr>
          <p:cNvSpPr/>
          <p:nvPr/>
        </p:nvSpPr>
        <p:spPr>
          <a:xfrm>
            <a:off x="3209925" y="1418332"/>
            <a:ext cx="2495550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FC2FBD5-AAED-F4E3-146F-B14D332595E5}"/>
              </a:ext>
            </a:extLst>
          </p:cNvPr>
          <p:cNvSpPr/>
          <p:nvPr/>
        </p:nvSpPr>
        <p:spPr>
          <a:xfrm>
            <a:off x="3209925" y="14183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1654A51-71E5-B585-C20C-8454C0B4B57B}"/>
              </a:ext>
            </a:extLst>
          </p:cNvPr>
          <p:cNvSpPr/>
          <p:nvPr/>
        </p:nvSpPr>
        <p:spPr>
          <a:xfrm>
            <a:off x="5695950" y="14183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20">
            <a:extLst>
              <a:ext uri="{FF2B5EF4-FFF2-40B4-BE49-F238E27FC236}">
                <a16:creationId xmlns:a16="http://schemas.microsoft.com/office/drawing/2014/main" id="{D3D54397-EC60-4656-BAF7-C08F3C87F5B2}"/>
              </a:ext>
            </a:extLst>
          </p:cNvPr>
          <p:cNvSpPr/>
          <p:nvPr/>
        </p:nvSpPr>
        <p:spPr>
          <a:xfrm>
            <a:off x="6248400" y="1761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AB60BA-742F-CFB0-3252-601C58890003}"/>
              </a:ext>
            </a:extLst>
          </p:cNvPr>
          <p:cNvSpPr/>
          <p:nvPr/>
        </p:nvSpPr>
        <p:spPr>
          <a:xfrm>
            <a:off x="5934075" y="4180582"/>
            <a:ext cx="24955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A3A843B-BD9C-58E7-9B2F-272EB0FFEC5E}"/>
              </a:ext>
            </a:extLst>
          </p:cNvPr>
          <p:cNvSpPr/>
          <p:nvPr/>
        </p:nvSpPr>
        <p:spPr>
          <a:xfrm>
            <a:off x="5934075" y="1418332"/>
            <a:ext cx="2495550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18209EE-6D06-D55E-7FBB-96C67B2AA7B1}"/>
              </a:ext>
            </a:extLst>
          </p:cNvPr>
          <p:cNvSpPr/>
          <p:nvPr/>
        </p:nvSpPr>
        <p:spPr>
          <a:xfrm>
            <a:off x="5934075" y="14183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231B707-6C91-4013-46F8-0AC3E20B85B3}"/>
              </a:ext>
            </a:extLst>
          </p:cNvPr>
          <p:cNvSpPr/>
          <p:nvPr/>
        </p:nvSpPr>
        <p:spPr>
          <a:xfrm>
            <a:off x="8420100" y="14183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25">
            <a:extLst>
              <a:ext uri="{FF2B5EF4-FFF2-40B4-BE49-F238E27FC236}">
                <a16:creationId xmlns:a16="http://schemas.microsoft.com/office/drawing/2014/main" id="{EF8D72CD-866D-0682-6E05-957A1CCC2B62}"/>
              </a:ext>
            </a:extLst>
          </p:cNvPr>
          <p:cNvSpPr/>
          <p:nvPr/>
        </p:nvSpPr>
        <p:spPr>
          <a:xfrm>
            <a:off x="8972550" y="1761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3EC2F97-DD01-E34A-22D9-F00A4653D349}"/>
              </a:ext>
            </a:extLst>
          </p:cNvPr>
          <p:cNvSpPr/>
          <p:nvPr/>
        </p:nvSpPr>
        <p:spPr>
          <a:xfrm>
            <a:off x="8658225" y="4180582"/>
            <a:ext cx="24955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53E3CC7-125E-7BFF-94B1-F5661A222C66}"/>
              </a:ext>
            </a:extLst>
          </p:cNvPr>
          <p:cNvSpPr/>
          <p:nvPr/>
        </p:nvSpPr>
        <p:spPr>
          <a:xfrm>
            <a:off x="8658225" y="1418332"/>
            <a:ext cx="2495550" cy="381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AE3C769-FA8C-A6B4-11AE-419112A3AB00}"/>
              </a:ext>
            </a:extLst>
          </p:cNvPr>
          <p:cNvSpPr/>
          <p:nvPr/>
        </p:nvSpPr>
        <p:spPr>
          <a:xfrm>
            <a:off x="8658225" y="14183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858F4FB-7414-BE92-BFFB-6EE08088AC1A}"/>
              </a:ext>
            </a:extLst>
          </p:cNvPr>
          <p:cNvSpPr/>
          <p:nvPr/>
        </p:nvSpPr>
        <p:spPr>
          <a:xfrm>
            <a:off x="11144250" y="14183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B207E4DE-7D41-5B7D-8A72-FF949A84C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5066407"/>
            <a:ext cx="666749" cy="666749"/>
          </a:xfrm>
          <a:prstGeom prst="rect">
            <a:avLst/>
          </a:prstGeom>
        </p:spPr>
      </p:pic>
      <p:pic>
        <p:nvPicPr>
          <p:cNvPr id="80" name="Picture 79" descr="image.png">
            <a:extLst>
              <a:ext uri="{FF2B5EF4-FFF2-40B4-BE49-F238E27FC236}">
                <a16:creationId xmlns:a16="http://schemas.microsoft.com/office/drawing/2014/main" id="{0936FDA4-D6CB-D278-CDDD-BE4C12C90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99" y="5228331"/>
            <a:ext cx="342900" cy="3429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F2765585-BE46-1551-FF34-A3C88C7D8C2F}"/>
              </a:ext>
            </a:extLst>
          </p:cNvPr>
          <p:cNvSpPr txBox="1"/>
          <p:nvPr/>
        </p:nvSpPr>
        <p:spPr>
          <a:xfrm>
            <a:off x="495300" y="346770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6600"/>
                </a:solidFill>
                <a:latin typeface="Inter"/>
              </a:rPr>
              <a:t>02. WHAT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857B033-2A0A-5ED2-0976-5CF9F822D163}"/>
              </a:ext>
            </a:extLst>
          </p:cNvPr>
          <p:cNvSpPr txBox="1"/>
          <p:nvPr/>
        </p:nvSpPr>
        <p:spPr>
          <a:xfrm>
            <a:off x="485775" y="576337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FFFFFF"/>
                </a:solidFill>
                <a:latin typeface="Inter"/>
              </a:rPr>
              <a:t>The Core Workflow &amp; Feedback Loop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15875E0-471F-6840-6FA9-D3305130BB1F}"/>
              </a:ext>
            </a:extLst>
          </p:cNvPr>
          <p:cNvSpPr txBox="1"/>
          <p:nvPr/>
        </p:nvSpPr>
        <p:spPr>
          <a:xfrm>
            <a:off x="657225" y="176123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F475153-9D7A-623D-7AD9-17FCEA895D43}"/>
              </a:ext>
            </a:extLst>
          </p:cNvPr>
          <p:cNvSpPr txBox="1"/>
          <p:nvPr/>
        </p:nvSpPr>
        <p:spPr>
          <a:xfrm>
            <a:off x="800100" y="2447032"/>
            <a:ext cx="206025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FFFFF"/>
                </a:solidFill>
                <a:latin typeface="Inter"/>
              </a:rPr>
              <a:t>Upload &amp; Extract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67FEA4E-1826-39B8-30D1-4313F3BBDDD3}"/>
              </a:ext>
            </a:extLst>
          </p:cNvPr>
          <p:cNvSpPr txBox="1"/>
          <p:nvPr/>
        </p:nvSpPr>
        <p:spPr>
          <a:xfrm>
            <a:off x="808814" y="2854093"/>
            <a:ext cx="19621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A3A3A3"/>
                </a:solidFill>
                <a:latin typeface="Inter"/>
              </a:rPr>
              <a:t>AI parses the PDF dossier and extracts entity data.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0ADDD1B-7AF7-6C5A-822D-11AE24BC6C41}"/>
              </a:ext>
            </a:extLst>
          </p:cNvPr>
          <p:cNvSpPr txBox="1"/>
          <p:nvPr/>
        </p:nvSpPr>
        <p:spPr>
          <a:xfrm>
            <a:off x="3381375" y="176123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DD85CD-1E77-63B4-5877-6A78B997901D}"/>
              </a:ext>
            </a:extLst>
          </p:cNvPr>
          <p:cNvSpPr txBox="1"/>
          <p:nvPr/>
        </p:nvSpPr>
        <p:spPr>
          <a:xfrm>
            <a:off x="3524250" y="2447032"/>
            <a:ext cx="24503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Inter"/>
              </a:rPr>
              <a:t>Cross-Validate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438E26F-17AC-6E33-A816-32125441A55D}"/>
              </a:ext>
            </a:extLst>
          </p:cNvPr>
          <p:cNvSpPr txBox="1"/>
          <p:nvPr/>
        </p:nvSpPr>
        <p:spPr>
          <a:xfrm>
            <a:off x="3524250" y="2837557"/>
            <a:ext cx="19621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A3A3A3"/>
                </a:solidFill>
                <a:latin typeface="Inter"/>
              </a:rPr>
              <a:t>Rules engine flags data discrepancies across files.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F700407-50D0-9661-2705-F23152707265}"/>
              </a:ext>
            </a:extLst>
          </p:cNvPr>
          <p:cNvSpPr txBox="1"/>
          <p:nvPr/>
        </p:nvSpPr>
        <p:spPr>
          <a:xfrm>
            <a:off x="6105525" y="176123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607403A-1A84-34BC-B172-C21BB7451868}"/>
              </a:ext>
            </a:extLst>
          </p:cNvPr>
          <p:cNvSpPr txBox="1"/>
          <p:nvPr/>
        </p:nvSpPr>
        <p:spPr>
          <a:xfrm>
            <a:off x="6248400" y="2447032"/>
            <a:ext cx="206025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Inter"/>
              </a:rPr>
              <a:t>Review &amp; Resolve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1471BF5-5558-73AC-A2F8-D23C5F8B52A9}"/>
              </a:ext>
            </a:extLst>
          </p:cNvPr>
          <p:cNvSpPr txBox="1"/>
          <p:nvPr/>
        </p:nvSpPr>
        <p:spPr>
          <a:xfrm>
            <a:off x="6216253" y="2794695"/>
            <a:ext cx="196215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A3A3A3"/>
                </a:solidFill>
                <a:latin typeface="Inter"/>
              </a:rPr>
              <a:t>System suggests values. User manually verifies or accepts suggestions to update CUSDEC.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EBF485B-BD62-F334-353C-4F805B4E67F5}"/>
              </a:ext>
            </a:extLst>
          </p:cNvPr>
          <p:cNvSpPr txBox="1"/>
          <p:nvPr/>
        </p:nvSpPr>
        <p:spPr>
          <a:xfrm>
            <a:off x="8829675" y="176123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2E394FF-DD99-0A21-A310-7D3F3252A4AC}"/>
              </a:ext>
            </a:extLst>
          </p:cNvPr>
          <p:cNvSpPr txBox="1"/>
          <p:nvPr/>
        </p:nvSpPr>
        <p:spPr>
          <a:xfrm>
            <a:off x="8972550" y="2447032"/>
            <a:ext cx="24503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Inter"/>
              </a:rPr>
              <a:t>CUSDEC Export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3BFE0F0-0D51-3AC3-A331-9B89DA3E247E}"/>
              </a:ext>
            </a:extLst>
          </p:cNvPr>
          <p:cNvSpPr txBox="1"/>
          <p:nvPr/>
        </p:nvSpPr>
        <p:spPr>
          <a:xfrm>
            <a:off x="8972550" y="2837557"/>
            <a:ext cx="19621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A3A3A3"/>
                </a:solidFill>
                <a:latin typeface="Inter"/>
              </a:rPr>
              <a:t>Verified payload mapped directly to ASYCUDA XML.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63FB1D4-F74D-4617-0ED0-9DDC18F7BA36}"/>
              </a:ext>
            </a:extLst>
          </p:cNvPr>
          <p:cNvSpPr txBox="1"/>
          <p:nvPr/>
        </p:nvSpPr>
        <p:spPr>
          <a:xfrm>
            <a:off x="2009775" y="4961632"/>
            <a:ext cx="446199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FFFF"/>
                </a:solidFill>
                <a:latin typeface="Inter"/>
              </a:rPr>
              <a:t>Continuous Learning: The Normalization Cache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F65871D-8194-AD3D-0DAD-3692AD9C73B0}"/>
              </a:ext>
            </a:extLst>
          </p:cNvPr>
          <p:cNvSpPr txBox="1"/>
          <p:nvPr/>
        </p:nvSpPr>
        <p:spPr>
          <a:xfrm>
            <a:off x="2009775" y="5361682"/>
            <a:ext cx="88487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400" b="0" i="0" u="none" dirty="0">
                <a:solidFill>
                  <a:srgbClr val="A3A3A3"/>
                </a:solidFill>
                <a:latin typeface="Inter"/>
              </a:rPr>
              <a:t>The system caches human corrections. Future occurrences of the same discrepancy (e.g., entity name variations) auto-resolve without user input.</a:t>
            </a:r>
          </a:p>
        </p:txBody>
      </p:sp>
    </p:spTree>
    <p:extLst>
      <p:ext uri="{BB962C8B-B14F-4D97-AF65-F5344CB8AC3E}">
        <p14:creationId xmlns:p14="http://schemas.microsoft.com/office/powerpoint/2010/main" val="3320690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4767" y="5809208"/>
            <a:ext cx="109728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0583" y="2941289"/>
            <a:ext cx="3117800" cy="2280346"/>
          </a:xfrm>
          <a:prstGeom prst="roundRect">
            <a:avLst>
              <a:gd name="adj" fmla="val 6928"/>
            </a:avLst>
          </a:prstGeom>
          <a:solidFill>
            <a:srgbClr val="03070C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27516" y="2977604"/>
            <a:ext cx="3117800" cy="2244031"/>
          </a:xfrm>
          <a:prstGeom prst="roundRect">
            <a:avLst>
              <a:gd name="adj" fmla="val 6049"/>
            </a:avLst>
          </a:prstGeom>
          <a:solidFill>
            <a:srgbClr val="03070C"/>
          </a:solidFill>
          <a:ln w="95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442209" y="2950815"/>
            <a:ext cx="3117800" cy="2270820"/>
          </a:xfrm>
          <a:prstGeom prst="roundRect">
            <a:avLst>
              <a:gd name="adj" fmla="val 6049"/>
            </a:avLst>
          </a:prstGeom>
          <a:solidFill>
            <a:srgbClr val="03070C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937" y="3879600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882" y="3956297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287032"/>
            <a:ext cx="2667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150" y="3263354"/>
            <a:ext cx="3810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687" y="3213492"/>
            <a:ext cx="3429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7209" y="76959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03. HO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W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Space Grotesk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9600" y="1636365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From unstructured dossiers to verified ASYCUDA payloads.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209" y="1029742"/>
            <a:ext cx="6203156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System Architecture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ace Grotesk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7725" y="3722340"/>
            <a:ext cx="346703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PaddleOCR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ace Grotesk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7725" y="4158560"/>
            <a:ext cx="330193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Image-to-text data extraction.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5150" y="3728888"/>
            <a:ext cx="346703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OpenAI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5150" y="4164697"/>
            <a:ext cx="2736800" cy="71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Entity classification to JSON payload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dirty="0">
                <a:solidFill>
                  <a:srgbClr val="CBD5E1"/>
                </a:solidFill>
                <a:latin typeface="Inter"/>
              </a:rPr>
              <a:t>Document Classification </a:t>
            </a:r>
          </a:p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Entity Classification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8687" y="3690788"/>
            <a:ext cx="346703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NetworkX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ace Grotesk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02575" y="4158559"/>
            <a:ext cx="2736800" cy="9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Relational knowledge graph construction.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dirty="0">
                <a:solidFill>
                  <a:srgbClr val="CBD5E1"/>
                </a:solidFill>
                <a:latin typeface="Inter"/>
              </a:rPr>
              <a:t>Node - Entity /Resource </a:t>
            </a:r>
          </a:p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Edge  - Value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3091904"/>
            <a:ext cx="3200334" cy="2186582"/>
          </a:xfrm>
          <a:prstGeom prst="roundRect">
            <a:avLst>
              <a:gd name="adj" fmla="val 5367"/>
            </a:avLst>
          </a:prstGeom>
          <a:solidFill>
            <a:srgbClr val="03070C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454490" y="3091904"/>
            <a:ext cx="3279725" cy="2186582"/>
          </a:xfrm>
          <a:prstGeom prst="roundRect">
            <a:avLst>
              <a:gd name="adj" fmla="val 5367"/>
            </a:avLst>
          </a:prstGeom>
          <a:solidFill>
            <a:srgbClr val="03070C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381916" y="3091905"/>
            <a:ext cx="3200334" cy="2186582"/>
          </a:xfrm>
          <a:prstGeom prst="roundRect">
            <a:avLst>
              <a:gd name="adj" fmla="val 4713"/>
            </a:avLst>
          </a:prstGeom>
          <a:solidFill>
            <a:srgbClr val="03070C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200" y="3882479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625" y="3882479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787846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03. 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636365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From unstructured dossiers to verified ASYCUDA payloads.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060621"/>
            <a:ext cx="3846374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System Architecture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ace Grotesk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7725" y="3911054"/>
            <a:ext cx="346703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Reasoning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320629"/>
            <a:ext cx="27368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Discrepancy detection by cross checking each entity. logical prioritization of the entities.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5150" y="3911054"/>
            <a:ext cx="346703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Interactive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5150" y="4320629"/>
            <a:ext cx="27368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User can either select the recommended solution or manually update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2575" y="3841216"/>
            <a:ext cx="287364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Creating CUSDEC 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2575" y="4316369"/>
            <a:ext cx="27368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When all the discrepancies have been corrected , CUSDEC document is created .</a:t>
            </a:r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352278"/>
            <a:ext cx="3048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14" y="3327403"/>
            <a:ext cx="3810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275" y="3291947"/>
            <a:ext cx="228600" cy="3048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A823AEF-4530-6B35-EF34-0A5ED1DAC862}"/>
              </a:ext>
            </a:extLst>
          </p:cNvPr>
          <p:cNvSpPr/>
          <p:nvPr/>
        </p:nvSpPr>
        <p:spPr>
          <a:xfrm>
            <a:off x="564767" y="5809208"/>
            <a:ext cx="109728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9136" y="2821334"/>
            <a:ext cx="2226468" cy="252591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376612" y="2878483"/>
            <a:ext cx="2190750" cy="246876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48946" y="2856725"/>
            <a:ext cx="2190750" cy="246876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77236" y="2903927"/>
            <a:ext cx="2226469" cy="246876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9136" y="2821334"/>
            <a:ext cx="2226469" cy="7054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76612" y="2834728"/>
            <a:ext cx="2190750" cy="5715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43587" y="2824482"/>
            <a:ext cx="2190750" cy="67396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77238" y="2846777"/>
            <a:ext cx="2226468" cy="67396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24672" y="1300646"/>
            <a:ext cx="155863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/>
                </a:solidFill>
                <a:latin typeface="Inter"/>
              </a:rPr>
              <a:t>SYSTEM TRANSPARENCY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14400"/>
            <a:ext cx="4345021" cy="1654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chemeClr val="bg1"/>
                </a:solidFill>
                <a:latin typeface="Inter"/>
              </a:rPr>
              <a:t>How We Have Used Explainable AI ?</a:t>
            </a:r>
          </a:p>
          <a:p>
            <a:pPr algn="l">
              <a:lnSpc>
                <a:spcPts val="4320"/>
              </a:lnSpc>
            </a:pPr>
            <a:endParaRPr sz="3600" b="1" i="0" u="none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4236" y="3091904"/>
            <a:ext cx="2226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LAYER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366" y="3321998"/>
            <a:ext cx="1250471" cy="3177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 i="0" u="none" dirty="0">
                <a:solidFill>
                  <a:srgbClr val="0A0B10"/>
                </a:solidFill>
                <a:latin typeface="Inter"/>
              </a:rPr>
              <a:t>Provenance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258" y="3766095"/>
            <a:ext cx="18764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B5563"/>
                </a:solidFill>
                <a:latin typeface="Inter"/>
              </a:rPr>
              <a:t>Direct mapping to raw OCR bounding boxes.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1412" y="3091904"/>
            <a:ext cx="1976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4774" y="3308031"/>
            <a:ext cx="1760220" cy="317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 i="0" u="none" dirty="0">
                <a:solidFill>
                  <a:srgbClr val="0A0B10"/>
                </a:solidFill>
                <a:latin typeface="Inter"/>
              </a:rPr>
              <a:t>Reasoning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4501" y="3860331"/>
            <a:ext cx="16764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B5563"/>
                </a:solidFill>
                <a:latin typeface="Inter"/>
              </a:rPr>
              <a:t>Step-by-step deductive proof of failed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0762" y="3126134"/>
            <a:ext cx="2178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LAYER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3354733"/>
            <a:ext cx="1197700" cy="3177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 i="0" u="none" dirty="0">
                <a:solidFill>
                  <a:srgbClr val="0A0B10"/>
                </a:solidFill>
                <a:latin typeface="Inter"/>
              </a:rPr>
              <a:t>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3860331"/>
            <a:ext cx="1838325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B5563"/>
                </a:solidFill>
                <a:latin typeface="Inter"/>
              </a:rPr>
              <a:t>Quantified uncertainty scores across extraction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2035" y="3122266"/>
            <a:ext cx="30599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8893" y="3308031"/>
            <a:ext cx="1683153" cy="3177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 i="0" u="none" dirty="0">
                <a:solidFill>
                  <a:srgbClr val="0A0B10"/>
                </a:solidFill>
                <a:latin typeface="Inter"/>
              </a:rPr>
              <a:t>Counterfactuals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7270" y="3860331"/>
            <a:ext cx="1683153" cy="79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B5563"/>
                </a:solidFill>
                <a:latin typeface="Inter"/>
              </a:rPr>
              <a:t>Prescribed data deltas for immediate correction.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72116" y="1637407"/>
            <a:ext cx="10880928" cy="4914900"/>
          </a:xfrm>
          <a:prstGeom prst="roundRect">
            <a:avLst>
              <a:gd name="adj" fmla="val 458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11420475" y="4799707"/>
            <a:ext cx="9525" cy="17526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34450" y="4409182"/>
            <a:ext cx="24955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 flipV="1">
            <a:off x="634181" y="1685031"/>
            <a:ext cx="10795819" cy="45719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420475" y="16469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8200" y="973560"/>
            <a:ext cx="3166188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959"/>
              </a:lnSpc>
            </a:pPr>
            <a:r>
              <a:rPr lang="en-US" sz="3600" b="1" dirty="0">
                <a:solidFill>
                  <a:srgbClr val="FFFFFF"/>
                </a:solidFill>
                <a:latin typeface="Inter"/>
              </a:rPr>
              <a:t>Full Architecture</a:t>
            </a:r>
            <a:endParaRPr sz="3600" b="1" i="0" u="none" dirty="0">
              <a:solidFill>
                <a:srgbClr val="FFFFFF"/>
              </a:solidFill>
              <a:latin typeface="Inter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39DA82B-5492-0379-E78D-AE0F59DA8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685031"/>
            <a:ext cx="9358630" cy="50995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48BE0-E1E0-F31B-202F-A4D9A0B32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2EF43E-8CDA-D77D-BC2F-2AD23820870D}"/>
              </a:ext>
            </a:extLst>
          </p:cNvPr>
          <p:cNvSpPr/>
          <p:nvPr/>
        </p:nvSpPr>
        <p:spPr>
          <a:xfrm>
            <a:off x="572116" y="481709"/>
            <a:ext cx="10880928" cy="5894581"/>
          </a:xfrm>
          <a:prstGeom prst="roundRect">
            <a:avLst>
              <a:gd name="adj" fmla="val 458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1EFDB-1CA4-3545-0973-7612FA7FF5CD}"/>
              </a:ext>
            </a:extLst>
          </p:cNvPr>
          <p:cNvSpPr/>
          <p:nvPr/>
        </p:nvSpPr>
        <p:spPr>
          <a:xfrm>
            <a:off x="11420475" y="4799707"/>
            <a:ext cx="9525" cy="17526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0CC862-2C6E-2A2B-214D-58B4C4F166CD}"/>
              </a:ext>
            </a:extLst>
          </p:cNvPr>
          <p:cNvSpPr/>
          <p:nvPr/>
        </p:nvSpPr>
        <p:spPr>
          <a:xfrm>
            <a:off x="8934450" y="4409182"/>
            <a:ext cx="24955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A0812A-168C-1F9D-CB37-DF97EC95537A}"/>
              </a:ext>
            </a:extLst>
          </p:cNvPr>
          <p:cNvSpPr/>
          <p:nvPr/>
        </p:nvSpPr>
        <p:spPr>
          <a:xfrm flipV="1">
            <a:off x="614670" y="626252"/>
            <a:ext cx="10795819" cy="45719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3CF764-A545-47B1-F66A-8FF69821EFAA}"/>
              </a:ext>
            </a:extLst>
          </p:cNvPr>
          <p:cNvSpPr/>
          <p:nvPr/>
        </p:nvSpPr>
        <p:spPr>
          <a:xfrm>
            <a:off x="11420475" y="1646932"/>
            <a:ext cx="9525" cy="277177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AD3BF9-E42D-9F25-1872-F9E9FF7D9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77" y="3868951"/>
            <a:ext cx="4669133" cy="22066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53AF25-E74D-8E52-A9C1-DF5E04344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81" y="3695173"/>
            <a:ext cx="4675242" cy="24142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09F4EF-C2AF-96EE-0EFA-F8855A266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477" y="906508"/>
            <a:ext cx="4529152" cy="25448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3B816C-0D01-3DB3-535A-28A524DB2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690" y="997792"/>
            <a:ext cx="4842423" cy="231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80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6826" y="728294"/>
            <a:ext cx="5979268" cy="716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5940"/>
              </a:lnSpc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OPTIMIZATIONS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23EF8E-FD98-1509-3DC7-24716929DD24}"/>
              </a:ext>
            </a:extLst>
          </p:cNvPr>
          <p:cNvSpPr/>
          <p:nvPr/>
        </p:nvSpPr>
        <p:spPr>
          <a:xfrm>
            <a:off x="809623" y="1813768"/>
            <a:ext cx="1969559" cy="212958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F0945E-3877-2441-2BEF-5D0AECE19E12}"/>
              </a:ext>
            </a:extLst>
          </p:cNvPr>
          <p:cNvSpPr/>
          <p:nvPr/>
        </p:nvSpPr>
        <p:spPr>
          <a:xfrm>
            <a:off x="3467099" y="1857523"/>
            <a:ext cx="2001671" cy="209449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100"/>
              </a:lnSpc>
            </a:pPr>
            <a:r>
              <a:rPr lang="en-US" dirty="0">
                <a:solidFill>
                  <a:srgbClr val="4B5563"/>
                </a:solidFill>
                <a:latin typeface="Inter"/>
              </a:rPr>
              <a:t> </a:t>
            </a:r>
          </a:p>
          <a:p>
            <a:pPr algn="ctr"/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36D190-5EB1-A219-3F2C-BC55F8719DFA}"/>
              </a:ext>
            </a:extLst>
          </p:cNvPr>
          <p:cNvSpPr/>
          <p:nvPr/>
        </p:nvSpPr>
        <p:spPr>
          <a:xfrm>
            <a:off x="809624" y="1800375"/>
            <a:ext cx="1969558" cy="4848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8F312A-E840-9391-4DCA-1AE1454D8775}"/>
              </a:ext>
            </a:extLst>
          </p:cNvPr>
          <p:cNvSpPr/>
          <p:nvPr/>
        </p:nvSpPr>
        <p:spPr>
          <a:xfrm>
            <a:off x="3467099" y="1813768"/>
            <a:ext cx="2001671" cy="4571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371E5C-1FF4-0D3B-7789-39D6026E4C50}"/>
              </a:ext>
            </a:extLst>
          </p:cNvPr>
          <p:cNvSpPr txBox="1"/>
          <p:nvPr/>
        </p:nvSpPr>
        <p:spPr>
          <a:xfrm>
            <a:off x="1002263" y="2101046"/>
            <a:ext cx="200167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Inter"/>
              </a:rPr>
              <a:t>Entity Extraction </a:t>
            </a:r>
            <a:endParaRPr sz="16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97A173-35DE-310D-3FBA-3B33734835C1}"/>
              </a:ext>
            </a:extLst>
          </p:cNvPr>
          <p:cNvSpPr txBox="1"/>
          <p:nvPr/>
        </p:nvSpPr>
        <p:spPr>
          <a:xfrm>
            <a:off x="1022746" y="2745135"/>
            <a:ext cx="1292437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00" dirty="0">
                <a:solidFill>
                  <a:srgbClr val="4B5563"/>
                </a:solidFill>
                <a:latin typeface="Inter"/>
              </a:rPr>
              <a:t>Regex </a:t>
            </a:r>
          </a:p>
          <a:p>
            <a:pPr algn="l">
              <a:lnSpc>
                <a:spcPts val="2100"/>
              </a:lnSpc>
            </a:pPr>
            <a:r>
              <a:rPr lang="en-US" sz="1600" b="0" i="0" u="none" dirty="0">
                <a:solidFill>
                  <a:srgbClr val="4B5563"/>
                </a:solidFill>
                <a:latin typeface="Inter"/>
              </a:rPr>
              <a:t>Open AI </a:t>
            </a:r>
            <a:endParaRPr sz="1600" b="0" i="0" u="none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DE7E98-C630-0D6E-FAA0-F3652CFEFC4E}"/>
              </a:ext>
            </a:extLst>
          </p:cNvPr>
          <p:cNvSpPr txBox="1"/>
          <p:nvPr/>
        </p:nvSpPr>
        <p:spPr>
          <a:xfrm>
            <a:off x="3638145" y="2564316"/>
            <a:ext cx="1286121" cy="1169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600" dirty="0">
                <a:solidFill>
                  <a:srgbClr val="4B5563"/>
                </a:solidFill>
                <a:latin typeface="Inter"/>
              </a:rPr>
              <a:t>Regex </a:t>
            </a:r>
          </a:p>
          <a:p>
            <a:pPr>
              <a:lnSpc>
                <a:spcPts val="2100"/>
              </a:lnSpc>
            </a:pPr>
            <a:r>
              <a:rPr lang="en-US" sz="1600" dirty="0">
                <a:solidFill>
                  <a:srgbClr val="4B5563"/>
                </a:solidFill>
                <a:latin typeface="Inter"/>
              </a:rPr>
              <a:t>Layout-LMV3</a:t>
            </a:r>
          </a:p>
          <a:p>
            <a:pPr>
              <a:lnSpc>
                <a:spcPts val="2100"/>
              </a:lnSpc>
            </a:pPr>
            <a:r>
              <a:rPr lang="en-US" sz="1600" dirty="0">
                <a:solidFill>
                  <a:srgbClr val="4B5563"/>
                </a:solidFill>
                <a:latin typeface="Inter"/>
              </a:rPr>
              <a:t>Open AI</a:t>
            </a:r>
          </a:p>
          <a:p>
            <a:pPr>
              <a:lnSpc>
                <a:spcPts val="2100"/>
              </a:lnSpc>
            </a:pPr>
            <a:r>
              <a:rPr lang="en-US" sz="2000" dirty="0">
                <a:solidFill>
                  <a:srgbClr val="4B5563"/>
                </a:solidFill>
                <a:latin typeface="Inter"/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275981-5D66-2FBA-29F8-E227ECC4FC17}"/>
              </a:ext>
            </a:extLst>
          </p:cNvPr>
          <p:cNvSpPr txBox="1"/>
          <p:nvPr/>
        </p:nvSpPr>
        <p:spPr>
          <a:xfrm>
            <a:off x="3538468" y="2054879"/>
            <a:ext cx="2813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F172A"/>
                </a:solidFill>
                <a:latin typeface="Inter"/>
              </a:rPr>
              <a:t>Optimized Extraction </a:t>
            </a:r>
          </a:p>
          <a:p>
            <a:endParaRPr lang="en-US" sz="16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030DBB-3CC4-B052-0008-A93A10B1ECD5}"/>
              </a:ext>
            </a:extLst>
          </p:cNvPr>
          <p:cNvSpPr/>
          <p:nvPr/>
        </p:nvSpPr>
        <p:spPr>
          <a:xfrm>
            <a:off x="6352162" y="1815732"/>
            <a:ext cx="2147988" cy="249377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B5E29F-D0C2-C7EA-16A3-CD13835A6569}"/>
              </a:ext>
            </a:extLst>
          </p:cNvPr>
          <p:cNvSpPr/>
          <p:nvPr/>
        </p:nvSpPr>
        <p:spPr>
          <a:xfrm>
            <a:off x="6352162" y="1787307"/>
            <a:ext cx="2147987" cy="4848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8669CC-3E34-A6BF-173E-D244E19E3555}"/>
              </a:ext>
            </a:extLst>
          </p:cNvPr>
          <p:cNvSpPr txBox="1"/>
          <p:nvPr/>
        </p:nvSpPr>
        <p:spPr>
          <a:xfrm>
            <a:off x="6723230" y="2103010"/>
            <a:ext cx="200167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6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B65830-286B-2C5D-1C35-1C139A92FD87}"/>
              </a:ext>
            </a:extLst>
          </p:cNvPr>
          <p:cNvSpPr txBox="1"/>
          <p:nvPr/>
        </p:nvSpPr>
        <p:spPr>
          <a:xfrm>
            <a:off x="6540838" y="2482627"/>
            <a:ext cx="1659579" cy="1333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600" dirty="0">
                <a:solidFill>
                  <a:srgbClr val="5D6673"/>
                </a:solidFill>
                <a:latin typeface="Inter"/>
              </a:rPr>
              <a:t>The system currently makes separate API calls for every unknown entity it finds</a:t>
            </a:r>
            <a:endParaRPr sz="1600" b="0" i="0" u="none" dirty="0">
              <a:solidFill>
                <a:srgbClr val="5D6673"/>
              </a:solidFill>
              <a:latin typeface="Inter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B420F2-AD48-95F5-D587-A7DED1B1892C}"/>
              </a:ext>
            </a:extLst>
          </p:cNvPr>
          <p:cNvSpPr/>
          <p:nvPr/>
        </p:nvSpPr>
        <p:spPr>
          <a:xfrm>
            <a:off x="9041750" y="1825322"/>
            <a:ext cx="2147988" cy="249377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5DB440-17DA-A7F6-DF9C-F656079FB851}"/>
              </a:ext>
            </a:extLst>
          </p:cNvPr>
          <p:cNvSpPr/>
          <p:nvPr/>
        </p:nvSpPr>
        <p:spPr>
          <a:xfrm>
            <a:off x="9041750" y="1796897"/>
            <a:ext cx="2147987" cy="4848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5B9CE0-D7C6-AAE3-153F-F3655D2515E8}"/>
              </a:ext>
            </a:extLst>
          </p:cNvPr>
          <p:cNvSpPr txBox="1"/>
          <p:nvPr/>
        </p:nvSpPr>
        <p:spPr>
          <a:xfrm>
            <a:off x="9188066" y="2094227"/>
            <a:ext cx="200167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latin typeface="Inter"/>
              </a:rPr>
              <a:t> Batching Requests</a:t>
            </a:r>
          </a:p>
          <a:p>
            <a:pPr algn="l"/>
            <a:endParaRPr sz="1600" b="1" i="0" u="none" dirty="0">
              <a:latin typeface="Inte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AE91E0-65F7-E9B8-2D07-CB93918674A2}"/>
              </a:ext>
            </a:extLst>
          </p:cNvPr>
          <p:cNvSpPr txBox="1"/>
          <p:nvPr/>
        </p:nvSpPr>
        <p:spPr>
          <a:xfrm>
            <a:off x="9154336" y="2471167"/>
            <a:ext cx="19741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B5563"/>
                </a:solidFill>
                <a:latin typeface="Inter"/>
              </a:rPr>
              <a:t>We will bundle unknown entities into a single batched request to cut latency and costs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EB1A4D-1813-69D1-7132-306B1C91FD5E}"/>
              </a:ext>
            </a:extLst>
          </p:cNvPr>
          <p:cNvSpPr txBox="1"/>
          <p:nvPr/>
        </p:nvSpPr>
        <p:spPr>
          <a:xfrm>
            <a:off x="6352162" y="2024100"/>
            <a:ext cx="2140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 </a:t>
            </a:r>
            <a:r>
              <a:rPr lang="en-US" sz="1600" b="1" dirty="0">
                <a:latin typeface="Inter"/>
              </a:rPr>
              <a:t>Separate API Requests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B97A7-D2DD-79B8-7AFA-45435898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E45A91-9193-09B3-09F0-8F8EBD9FFA7C}"/>
              </a:ext>
            </a:extLst>
          </p:cNvPr>
          <p:cNvSpPr txBox="1"/>
          <p:nvPr/>
        </p:nvSpPr>
        <p:spPr>
          <a:xfrm>
            <a:off x="946826" y="728294"/>
            <a:ext cx="5979268" cy="716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5940"/>
              </a:lnSpc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OPTIMIZATIONS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9E8DDF-32F6-24C6-5E08-8842BFF1B84F}"/>
              </a:ext>
            </a:extLst>
          </p:cNvPr>
          <p:cNvSpPr/>
          <p:nvPr/>
        </p:nvSpPr>
        <p:spPr>
          <a:xfrm>
            <a:off x="1468877" y="2024100"/>
            <a:ext cx="3830873" cy="276206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839877-CE6D-F425-8419-4933C9E8CC31}"/>
              </a:ext>
            </a:extLst>
          </p:cNvPr>
          <p:cNvSpPr/>
          <p:nvPr/>
        </p:nvSpPr>
        <p:spPr>
          <a:xfrm>
            <a:off x="1468877" y="1973032"/>
            <a:ext cx="3830873" cy="4848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34EDC8-A21D-E278-BFF8-B44994C16166}"/>
              </a:ext>
            </a:extLst>
          </p:cNvPr>
          <p:cNvSpPr txBox="1"/>
          <p:nvPr/>
        </p:nvSpPr>
        <p:spPr>
          <a:xfrm>
            <a:off x="6723230" y="2103010"/>
            <a:ext cx="200167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6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E62156-579F-8A3A-27D4-8E1ADB45BE86}"/>
              </a:ext>
            </a:extLst>
          </p:cNvPr>
          <p:cNvSpPr txBox="1"/>
          <p:nvPr/>
        </p:nvSpPr>
        <p:spPr>
          <a:xfrm>
            <a:off x="1867711" y="3018569"/>
            <a:ext cx="3083667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dirty="0">
                <a:solidFill>
                  <a:srgbClr val="4B5563"/>
                </a:solidFill>
                <a:latin typeface="Inter"/>
              </a:rPr>
              <a:t>Querying a disk-based database for known entities creates bottlenecks at high scale.</a:t>
            </a:r>
            <a:endParaRPr sz="1600" b="0" i="0" u="none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802E5D-AE7C-3B7F-B719-535C60D8D01C}"/>
              </a:ext>
            </a:extLst>
          </p:cNvPr>
          <p:cNvSpPr/>
          <p:nvPr/>
        </p:nvSpPr>
        <p:spPr>
          <a:xfrm>
            <a:off x="6892252" y="2024100"/>
            <a:ext cx="3830872" cy="276206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BE1AE8-9B53-53A2-08C4-8B82D0CE5082}"/>
              </a:ext>
            </a:extLst>
          </p:cNvPr>
          <p:cNvSpPr/>
          <p:nvPr/>
        </p:nvSpPr>
        <p:spPr>
          <a:xfrm>
            <a:off x="6892250" y="2005420"/>
            <a:ext cx="3830873" cy="4848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B551B0-0846-C608-C390-C79DAFDD694B}"/>
              </a:ext>
            </a:extLst>
          </p:cNvPr>
          <p:cNvSpPr txBox="1"/>
          <p:nvPr/>
        </p:nvSpPr>
        <p:spPr>
          <a:xfrm>
            <a:off x="7339811" y="2456009"/>
            <a:ext cx="2001671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latin typeface="Inter"/>
              </a:rPr>
              <a:t> </a:t>
            </a:r>
            <a:r>
              <a:rPr lang="en-US" b="1" dirty="0"/>
              <a:t>PostgreSQL + Redis</a:t>
            </a:r>
            <a:endParaRPr lang="en-US" sz="1600" b="1" dirty="0">
              <a:latin typeface="Inter"/>
            </a:endParaRPr>
          </a:p>
          <a:p>
            <a:pPr algn="l"/>
            <a:endParaRPr sz="1600" b="1" i="0" u="none" dirty="0">
              <a:latin typeface="Inte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68E661-B197-75CA-C170-B71DECAB6219}"/>
              </a:ext>
            </a:extLst>
          </p:cNvPr>
          <p:cNvSpPr txBox="1"/>
          <p:nvPr/>
        </p:nvSpPr>
        <p:spPr>
          <a:xfrm>
            <a:off x="7310628" y="2952847"/>
            <a:ext cx="315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B5563"/>
                </a:solidFill>
              </a:rPr>
              <a:t>Adding a Redis in-memory cache serves entities directly from RAM for sub-millisecond lookups.</a:t>
            </a:r>
            <a:endParaRPr lang="en-US" sz="160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356CE-0420-4392-3AD7-DC8F95A84869}"/>
              </a:ext>
            </a:extLst>
          </p:cNvPr>
          <p:cNvSpPr txBox="1"/>
          <p:nvPr/>
        </p:nvSpPr>
        <p:spPr>
          <a:xfrm>
            <a:off x="1770435" y="2439178"/>
            <a:ext cx="255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PostgreSQL</a:t>
            </a:r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A6E9CA-A548-3341-DA54-2963A4021B0C}"/>
              </a:ext>
            </a:extLst>
          </p:cNvPr>
          <p:cNvSpPr/>
          <p:nvPr/>
        </p:nvSpPr>
        <p:spPr>
          <a:xfrm>
            <a:off x="5615141" y="3084102"/>
            <a:ext cx="945185" cy="47615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8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243387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95737" y="2576512"/>
            <a:ext cx="4200525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1449" y="4119562"/>
            <a:ext cx="65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endParaRPr lang="en-US" sz="2100" b="0" i="0" u="none" dirty="0">
              <a:solidFill>
                <a:srgbClr val="94A3B8"/>
              </a:solidFill>
              <a:latin typeface="Inter"/>
            </a:endParaRPr>
          </a:p>
          <a:p>
            <a:pPr algn="ctr"/>
            <a:endParaRPr sz="21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692</Words>
  <Application>Microsoft Office PowerPoint</Application>
  <PresentationFormat>Widescreen</PresentationFormat>
  <Paragraphs>135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Play</vt:lpstr>
      <vt:lpstr>Inter</vt:lpstr>
      <vt:lpstr>Arial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EX BOOK</dc:creator>
  <cp:keywords/>
  <dc:description>generated using python-pptx</dc:description>
  <cp:lastModifiedBy>MANSARA W.G.N.S.</cp:lastModifiedBy>
  <cp:revision>10</cp:revision>
  <dcterms:created xsi:type="dcterms:W3CDTF">2013-01-27T09:14:16Z</dcterms:created>
  <dcterms:modified xsi:type="dcterms:W3CDTF">2026-10-02T06:52:04Z</dcterms:modified>
  <cp:category/>
</cp:coreProperties>
</file>